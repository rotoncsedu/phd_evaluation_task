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A84701F-F68F-E836-F010-98981E94EEDF}">
          <p14:sldIdLst>
            <p14:sldId id="256"/>
            <p14:sldId id="257"/>
            <p14:sldId id="258"/>
          </p14:sldIdLst>
        </p14:section>
        <p14:section name="Problem and Method" id="{CE3ACDA6-E6E6-12F7-A97D-06BBB840FF2B}">
          <p14:sldIdLst>
            <p14:sldId id="259"/>
            <p14:sldId id="260"/>
            <p14:sldId id="261"/>
            <p14:sldId id="262"/>
          </p14:sldIdLst>
        </p14:section>
        <p14:section name="Experiments and Results" id="{C54D3962-055F-71A8-0B00-4975B478FEEE}">
          <p14:sldIdLst>
            <p14:sldId id="263"/>
            <p14:sldId id="264"/>
            <p14:sldId id="265"/>
            <p14:sldId id="266"/>
          </p14:sldIdLst>
        </p14:section>
        <p14:section name="Wrap-up" id="{7755A1E5-6027-CB1D-08CF-7FE05A06358D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866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</a:rPr>
              <a:t>Addressing Distributional Shifts in Order Fulfillment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Title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71800"/>
            <a:ext cx="49377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A9CCD3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A9CCD3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toncsedu/phd_evaluation_tas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Addressing Distributional Shifts in Order Fulfillment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A9CCD3"/>
                </a:solidFill>
              </a:rPr>
              <a:t>Md. Al Imran · Rangpur, Bangladesh</a:t>
            </a:r>
            <a:endParaRPr lang="en-US" sz="1800" dirty="0"/>
          </a:p>
        </p:txBody>
      </p:sp>
      <p:sp>
        <p:nvSpPr>
          <p:cNvPr id="4" name="Circle A"/>
          <p:cNvSpPr txBox="1"/>
          <p:nvPr/>
        </p:nvSpPr>
        <p:spPr>
          <a:xfrm>
            <a:off x="5989320" y="1005840"/>
            <a:ext cx="2377440" cy="237744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A</a:t>
            </a:r>
            <a:endParaRPr lang="en-US" sz="2800" dirty="0"/>
          </a:p>
        </p:txBody>
      </p:sp>
      <p:sp>
        <p:nvSpPr>
          <p:cNvPr id="5" name="Circle B"/>
          <p:cNvSpPr txBox="1"/>
          <p:nvPr/>
        </p:nvSpPr>
        <p:spPr>
          <a:xfrm>
            <a:off x="6698538" y="2331720"/>
            <a:ext cx="2377440" cy="237744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B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rd The question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question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paper studies how manufacturers can obtain reliable throughput time predictions when future orders differ systematically from historical ones (a distributional shift).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rd The approach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50292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692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approach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02920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authors propose training a neural network with Wasserstein distance-guided representation learning (WDGRL), which uses the unlabeled features of the forthcoming orders to align the learned representations of old and new orders.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rd Goal"/>
          <p:cNvSpPr/>
          <p:nvPr/>
        </p:nvSpPr>
        <p:spPr>
          <a:xfrm>
            <a:off x="457200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Manufacturers aim to deliver orders on time.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rd Throughput time"/>
          <p:cNvSpPr/>
          <p:nvPr/>
        </p:nvSpPr>
        <p:spPr>
          <a:xfrm>
            <a:off x="3291840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Throughput time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7472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long each order takes to complete.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rd Distributional shift"/>
          <p:cNvSpPr/>
          <p:nvPr/>
        </p:nvSpPr>
        <p:spPr>
          <a:xfrm>
            <a:off x="6126480" y="123444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Distributional shift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0936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orders can look different from past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Image frame"/>
          <p:cNvSpPr/>
          <p:nvPr/>
        </p:nvSpPr>
        <p:spPr>
          <a:xfrm>
            <a:off x="2011680" y="2331720"/>
            <a:ext cx="5120640" cy="2354580"/>
          </a:xfrm>
          <a:prstGeom prst="roundRect">
            <a:avLst>
              <a:gd name="adj" fmla="val 3107"/>
            </a:avLst>
          </a:prstGeom>
          <a:solidFill>
            <a:schemeClr val="bg1"/>
          </a:solidFill>
          <a:ln w="12700">
            <a:solidFill>
              <a:srgbClr val="EEF2F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Distribution shift figure" descr="Feature distributions and feature means for historical (train) versus forthcoming (test) ord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395728"/>
            <a:ext cx="4937760" cy="18516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43022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distributions and means: historical orders vs. forthcoming orders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Case Study: Aker Solutions</a:t>
            </a:r>
            <a:endParaRPr lang="en-US" sz="3200" dirty="0"/>
          </a:p>
        </p:txBody>
      </p:sp>
      <p:sp>
        <p:nvSpPr>
          <p:cNvPr id="3" name="Card Setting A"/>
          <p:cNvSpPr/>
          <p:nvPr/>
        </p:nvSpPr>
        <p:spPr>
          <a:xfrm>
            <a:off x="457200" y="1234440"/>
            <a:ext cx="39319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Badge A"/>
          <p:cNvSpPr txBox="1"/>
          <p:nvPr/>
        </p:nvSpPr>
        <p:spPr>
          <a:xfrm>
            <a:off x="731520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44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</a:rPr>
              <a:t>Setting A</a:t>
            </a:r>
            <a:r>
              <a:rPr lang="en-US" sz="1500" dirty="0">
                <a:solidFill>
                  <a:srgbClr val="5B7083"/>
                </a:solidFill>
              </a:rPr>
              <a:t>  ·  Historical, labeled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A7F8E"/>
                </a:solidFill>
              </a:rPr>
              <a:t>5,830</a:t>
            </a:r>
            <a:r>
              <a:rPr lang="en-US" sz="1600" dirty="0">
                <a:solidFill>
                  <a:srgbClr val="5B7083"/>
                </a:solidFill>
              </a:rPr>
              <a:t>  spools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Johan Castberg vessel, January to September 2019.</a:t>
            </a:r>
            <a:endParaRPr lang="en-US" sz="1400" dirty="0"/>
          </a:p>
        </p:txBody>
      </p:sp>
      <p:sp>
        <p:nvSpPr>
          <p:cNvPr id="8" name="Card Setting B"/>
          <p:cNvSpPr/>
          <p:nvPr/>
        </p:nvSpPr>
        <p:spPr>
          <a:xfrm>
            <a:off x="4754880" y="1234440"/>
            <a:ext cx="39319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9" name="Badge B"/>
          <p:cNvSpPr txBox="1"/>
          <p:nvPr/>
        </p:nvSpPr>
        <p:spPr>
          <a:xfrm>
            <a:off x="5029200" y="14447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444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</a:rPr>
              <a:t>Setting B</a:t>
            </a:r>
            <a:r>
              <a:rPr lang="en-US" sz="1500" dirty="0">
                <a:solidFill>
                  <a:srgbClr val="5B7083"/>
                </a:solidFill>
              </a:rPr>
              <a:t>  ·  Forthcoming, unlabeled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8761A"/>
                </a:solidFill>
              </a:rPr>
              <a:t>3,866</a:t>
            </a:r>
            <a:r>
              <a:rPr lang="en-US" sz="1600" dirty="0">
                <a:solidFill>
                  <a:srgbClr val="5B7083"/>
                </a:solidFill>
              </a:rPr>
              <a:t>  spools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Johan Sverdrup modification, September 2019 to April 2020.</a:t>
            </a:r>
            <a:endParaRPr lang="en-US" sz="1400" dirty="0"/>
          </a:p>
        </p:txBody>
      </p:sp>
      <p:sp>
        <p:nvSpPr>
          <p:cNvPr id="13" name="Note bar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6118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20 features per spool. Semi-synthetic experiments: Gaussian features, shift strength θ = 1 to 4, labels from a random forest plus noise.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Two-Stage Decision Problem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Predict-then-optimize under shift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rd Stage 1: Prediction"/>
          <p:cNvSpPr/>
          <p:nvPr/>
        </p:nvSpPr>
        <p:spPr>
          <a:xfrm>
            <a:off x="457200" y="1508760"/>
            <a:ext cx="8229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 txBox="1"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80160" y="1618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1: Prediction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throughput times; accuracy is measured by MAE on the forthcoming orders (B).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quation panel 1"/>
          <p:cNvSpPr/>
          <p:nvPr/>
        </p:nvSpPr>
        <p:spPr>
          <a:xfrm>
            <a:off x="4160520" y="1664208"/>
            <a:ext cx="4297680" cy="1106424"/>
          </a:xfrm>
          <a:prstGeom prst="roundRect">
            <a:avLst>
              <a:gd name="adj" fmla="val 6612"/>
            </a:avLst>
          </a:prstGeom>
          <a:solidFill>
            <a:schemeClr val="bg1"/>
          </a:solidFill>
          <a:ln/>
        </p:spPr>
      </p:sp>
      <p:pic>
        <p:nvPicPr>
          <p:cNvPr id="9" name="Equation 1" descr="MAE equals one over m times the sum of absolute differences between true and predicted valu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94267"/>
            <a:ext cx="2651760" cy="846306"/>
          </a:xfrm>
          <a:prstGeom prst="rect">
            <a:avLst/>
          </a:prstGeom>
        </p:spPr>
      </p:pic>
      <p:sp>
        <p:nvSpPr>
          <p:cNvPr id="10" name="Card Stage 2: Scheduling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1" name="Badge 2"/>
          <p:cNvSpPr txBox="1"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280160" y="3172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2: Scheduling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80160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orders using the predictions; cost penalizes early and tardy completion.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quation panel 2"/>
          <p:cNvSpPr/>
          <p:nvPr/>
        </p:nvSpPr>
        <p:spPr>
          <a:xfrm>
            <a:off x="4160520" y="3218688"/>
            <a:ext cx="4297680" cy="1106424"/>
          </a:xfrm>
          <a:prstGeom prst="roundRect">
            <a:avLst>
              <a:gd name="adj" fmla="val 6612"/>
            </a:avLst>
          </a:prstGeom>
          <a:solidFill>
            <a:schemeClr val="bg1"/>
          </a:solidFill>
          <a:ln/>
        </p:spPr>
      </p:sp>
      <p:pic>
        <p:nvPicPr>
          <p:cNvPr id="15" name="Equation 2" descr="Cost equals early cost times max of zero and due date minus completion, plus tardy cost times max of zero and completion minus due d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592528"/>
            <a:ext cx="4114800" cy="3587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re idea banner"/>
          <p:cNvSpPr/>
          <p:nvPr/>
        </p:nvSpPr>
        <p:spPr>
          <a:xfrm>
            <a:off x="457200" y="1234440"/>
            <a:ext cx="822960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idea: learn a representation that looks the same for A and B.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C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authors use Wasserstein distance-guided representation learning (WDGRL), which trains three small neural networks jointly: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rd Feature extractor"/>
          <p:cNvSpPr/>
          <p:nvPr/>
        </p:nvSpPr>
        <p:spPr>
          <a:xfrm>
            <a:off x="457200" y="269748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Badge fe"/>
          <p:cNvSpPr txBox="1"/>
          <p:nvPr/>
        </p:nvSpPr>
        <p:spPr>
          <a:xfrm>
            <a:off x="68580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7160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85800" y="36118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 the 20 raw features into a shared latent space.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rd Regressor"/>
          <p:cNvSpPr/>
          <p:nvPr/>
        </p:nvSpPr>
        <p:spPr>
          <a:xfrm>
            <a:off x="3291840" y="269748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Badge fr"/>
          <p:cNvSpPr txBox="1"/>
          <p:nvPr/>
        </p:nvSpPr>
        <p:spPr>
          <a:xfrm>
            <a:off x="352044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2062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20440" y="36118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throughput time from the labeled setting 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rd Critic"/>
          <p:cNvSpPr/>
          <p:nvPr/>
        </p:nvSpPr>
        <p:spPr>
          <a:xfrm>
            <a:off x="6126480" y="269748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5" name="Badge fc"/>
          <p:cNvSpPr txBox="1"/>
          <p:nvPr/>
        </p:nvSpPr>
        <p:spPr>
          <a:xfrm>
            <a:off x="6355080" y="2880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04088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55080" y="36118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Wasserstein distance between A and B. Used in training only.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of WDGRL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mage frame"/>
          <p:cNvSpPr/>
          <p:nvPr/>
        </p:nvSpPr>
        <p:spPr>
          <a:xfrm>
            <a:off x="457200" y="1188720"/>
            <a:ext cx="365760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rgbClr val="EEF2F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Architecture diagram" descr="WDGRL model architecture: (a) model estimation and (b) model deploy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79154"/>
            <a:ext cx="3438144" cy="1602413"/>
          </a:xfrm>
          <a:prstGeom prst="rect">
            <a:avLst/>
          </a:prstGeom>
        </p:spPr>
      </p:pic>
      <p:sp>
        <p:nvSpPr>
          <p:cNvPr id="5" name="Card 1"/>
          <p:cNvSpPr/>
          <p:nvPr/>
        </p:nvSpPr>
        <p:spPr>
          <a:xfrm>
            <a:off x="4297680" y="1188720"/>
            <a:ext cx="43891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480560" y="1261872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A7F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  f</a:t>
            </a:r>
            <a:r>
              <a:rPr lang="en-US" sz="1500" b="1" baseline="-40000" dirty="0">
                <a:solidFill>
                  <a:srgbClr val="2A7F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Maximize the Wasserstein loss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Intuition: </a:t>
            </a: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the distributional differences between A and 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rd 2"/>
          <p:cNvSpPr/>
          <p:nvPr/>
        </p:nvSpPr>
        <p:spPr>
          <a:xfrm>
            <a:off x="4297680" y="2286000"/>
            <a:ext cx="4389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80560" y="2359152"/>
            <a:ext cx="40233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A7F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extractor  f</a:t>
            </a:r>
            <a:r>
              <a:rPr lang="en-US" sz="1500" b="1" baseline="-40000" dirty="0">
                <a:solidFill>
                  <a:srgbClr val="2A7F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regression loss and the estimated distance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Intuition: </a:t>
            </a: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 predictive information while reducing domain differences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rd 3"/>
          <p:cNvSpPr/>
          <p:nvPr/>
        </p:nvSpPr>
        <p:spPr>
          <a:xfrm>
            <a:off x="4297680" y="3657600"/>
            <a:ext cx="43891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0560" y="3730752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A7F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Regressor  f</a:t>
            </a:r>
            <a:r>
              <a:rPr lang="en-US" sz="1500" b="1" baseline="-40000" dirty="0">
                <a:solidFill>
                  <a:srgbClr val="2A7F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regression loss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A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Intuition: </a:t>
            </a: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the source throughput times accurately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Semi-synthetic design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Badge 1"/>
          <p:cNvSpPr txBox="1"/>
          <p:nvPr/>
        </p:nvSpPr>
        <p:spPr>
          <a:xfrm>
            <a:off x="457200" y="1645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0584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the mean and covariance of the real Aker features for A and B.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Badge 2"/>
          <p:cNvSpPr txBox="1"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231343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synthetic features for A. For B, shift the mean from A toward B by a factor θ ∈ {1, 2, 3, 4}; larger θ means a stronger shift.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Badge 3"/>
          <p:cNvSpPr txBox="1"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5840" y="33192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throughput times as y = φ(x) + noise, where φ is a random forest fitted to real Aker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compared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rd Elastic Net"/>
          <p:cNvSpPr/>
          <p:nvPr/>
        </p:nvSpPr>
        <p:spPr>
          <a:xfrm>
            <a:off x="5486400" y="1645920"/>
            <a:ext cx="32004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Elastic Net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66928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Regularized linear regression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rd Baseline neural network"/>
          <p:cNvSpPr/>
          <p:nvPr/>
        </p:nvSpPr>
        <p:spPr>
          <a:xfrm>
            <a:off x="5486400" y="2532888"/>
            <a:ext cx="320040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2624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neural network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669280" y="2944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Non-linear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rd WDGRL"/>
          <p:cNvSpPr/>
          <p:nvPr/>
        </p:nvSpPr>
        <p:spPr>
          <a:xfrm>
            <a:off x="5486400" y="3419856"/>
            <a:ext cx="32004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0" y="3511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WDGRL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669280" y="38313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Wasserstein distance-guided representation learning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(1/2)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Strongest shift (θ = 4); same method ranking at every 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Performan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15179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Scheduling cost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Replication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Replication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Elastic Net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31.5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29.6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4,454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4,205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Neural network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31.4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28.4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4,568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4,259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WDGRL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23.8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22.6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2,954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</a:rPr>
                        <a:t>2,668</a:t>
                      </a:r>
                      <a:endParaRPr lang="en-US" sz="13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d cost reduction"/>
          <p:cNvSpPr/>
          <p:nvPr/>
        </p:nvSpPr>
        <p:spPr>
          <a:xfrm>
            <a:off x="457200" y="3108960"/>
            <a:ext cx="39319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WDGRL cost reduction vs. neural network (θ = 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4008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35.3%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400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46888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37.4%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7"/>
          <p:cNvSpPr txBox="1"/>
          <p:nvPr/>
        </p:nvSpPr>
        <p:spPr>
          <a:xfrm>
            <a:off x="24688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rd cost change"/>
          <p:cNvSpPr/>
          <p:nvPr/>
        </p:nvSpPr>
        <p:spPr>
          <a:xfrm>
            <a:off x="4572000" y="3108960"/>
            <a:ext cx="41148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488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change from θ = 1 to θ = 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Cost chan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520440"/>
          <a:ext cx="3749040" cy="95097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083"/>
                          </a:solidFill>
                        </a:rPr>
                        <a:t>Paper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083"/>
                          </a:solidFill>
                        </a:rPr>
                        <a:t>Replication</a:t>
                      </a:r>
                      <a:endParaRPr lang="en-US" sz="12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Neural network</a:t>
                      </a:r>
                      <a:endParaRPr lang="en-US" sz="13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553D"/>
                          </a:solidFill>
                        </a:rPr>
                        <a:t>+55.8%</a:t>
                      </a:r>
                      <a:endParaRPr lang="en-US" sz="15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553D"/>
                          </a:solidFill>
                        </a:rPr>
                        <a:t>+51.0%</a:t>
                      </a:r>
                      <a:endParaRPr lang="en-US" sz="15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WDGRL</a:t>
                      </a:r>
                      <a:endParaRPr lang="en-US" sz="13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A7F8E"/>
                          </a:solidFill>
                        </a:rPr>
                        <a:t>+6.2%</a:t>
                      </a:r>
                      <a:endParaRPr lang="en-US" sz="15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A7F8E"/>
                          </a:solidFill>
                        </a:rPr>
                        <a:t>−3.1%</a:t>
                      </a:r>
                      <a:endParaRPr lang="en-US" sz="1500" dirty="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(2/2)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 of the three models vs. true target values at θ = 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Image frame"/>
          <p:cNvSpPr/>
          <p:nvPr/>
        </p:nvSpPr>
        <p:spPr>
          <a:xfrm>
            <a:off x="457200" y="1463040"/>
            <a:ext cx="585216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EEF2F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Prediction comparison" descr="Histogram comparing predictions of the three models with the true target values at theta equals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77340"/>
            <a:ext cx="5577840" cy="2788920"/>
          </a:xfrm>
          <a:prstGeom prst="rect">
            <a:avLst/>
          </a:prstGeom>
        </p:spPr>
      </p:pic>
      <p:sp>
        <p:nvSpPr>
          <p:cNvPr id="6" name="Card takeaway"/>
          <p:cNvSpPr/>
          <p:nvPr/>
        </p:nvSpPr>
        <p:spPr>
          <a:xfrm>
            <a:off x="6492240" y="1463040"/>
            <a:ext cx="2194560" cy="301752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9C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0" y="20116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strong shift, WDGRL is clearly better than the other models.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 Experiments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ill 1"/>
          <p:cNvSpPr txBox="1"/>
          <p:nvPr/>
        </p:nvSpPr>
        <p:spPr>
          <a:xfrm>
            <a:off x="457200" y="1234440"/>
            <a:ext cx="1920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production capacity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ill 2"/>
          <p:cNvSpPr txBox="1"/>
          <p:nvPr/>
        </p:nvSpPr>
        <p:spPr>
          <a:xfrm>
            <a:off x="2560320" y="1234440"/>
            <a:ext cx="1920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tardiness cost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ill 3"/>
          <p:cNvSpPr txBox="1"/>
          <p:nvPr/>
        </p:nvSpPr>
        <p:spPr>
          <a:xfrm>
            <a:off x="4663440" y="1234440"/>
            <a:ext cx="1920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noise distribution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ill 4"/>
          <p:cNvSpPr txBox="1"/>
          <p:nvPr/>
        </p:nvSpPr>
        <p:spPr>
          <a:xfrm>
            <a:off x="6766560" y="1234440"/>
            <a:ext cx="192024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outcome-generating function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Image frame Authors"/>
          <p:cNvSpPr/>
          <p:nvPr/>
        </p:nvSpPr>
        <p:spPr>
          <a:xfrm>
            <a:off x="712475" y="2057400"/>
            <a:ext cx="3973807" cy="2157984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12700">
            <a:solidFill>
              <a:srgbClr val="EEF2F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Authors figure" descr="Authors: scheduling cost for main setting, lower capacity and higher tardiness co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27" y="2130552"/>
            <a:ext cx="3827503" cy="2011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2475" y="4224528"/>
            <a:ext cx="39738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scheduling cost for the main setting, lower capacity, and higher tardiness cost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Image frame Replication"/>
          <p:cNvSpPr/>
          <p:nvPr/>
        </p:nvSpPr>
        <p:spPr>
          <a:xfrm>
            <a:off x="4860018" y="2057400"/>
            <a:ext cx="3571507" cy="2157984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12700">
            <a:solidFill>
              <a:srgbClr val="EEF2F6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Replication figure" descr="Replication: scheduling cost for main setting, lower capacity and higher tardiness co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70" y="2130552"/>
            <a:ext cx="3425203" cy="20116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60018" y="4224528"/>
            <a:ext cx="35715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Replication: scheduling cost for the main setting, lower capacity, and higher tardiness cost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Work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rd Covariate shift only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Covariate shift only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rd Similarity of old and new orders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7" name="Badge 2"/>
          <p:cNvSpPr txBox="1"/>
          <p:nvPr/>
        </p:nvSpPr>
        <p:spPr>
          <a:xfrm>
            <a:off x="35204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52044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of old and new orders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rd Semi-synthetic design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Badge 3"/>
          <p:cNvSpPr txBox="1"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5508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Semi-synthetic design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rd Simplified scheduling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3" name="Badge 4"/>
          <p:cNvSpPr txBox="1"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Simplified scheduling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rd Single solver and decoupled design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6" name="Badge 5"/>
          <p:cNvSpPr txBox="1"/>
          <p:nvPr/>
        </p:nvSpPr>
        <p:spPr>
          <a:xfrm>
            <a:off x="35204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52044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solver and decoupled design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rd Baseline architecture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9" name="Badge 6"/>
          <p:cNvSpPr txBox="1"/>
          <p:nvPr/>
        </p:nvSpPr>
        <p:spPr>
          <a:xfrm>
            <a:off x="635508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35508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rd takeaway 1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WDGRL turns unlabeled future data into more robust predictions and schedules.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rd takeaway 2"/>
          <p:cNvSpPr/>
          <p:nvPr/>
        </p:nvSpPr>
        <p:spPr>
          <a:xfrm>
            <a:off x="457200" y="2212848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7" name="Badge 2"/>
          <p:cNvSpPr txBox="1"/>
          <p:nvPr/>
        </p:nvSpPr>
        <p:spPr>
          <a:xfrm>
            <a:off x="685800" y="2395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71600" y="221284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qualitative result is reproduced; numerical values differ moderately.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rd takeaway 3"/>
          <p:cNvSpPr/>
          <p:nvPr/>
        </p:nvSpPr>
        <p:spPr>
          <a:xfrm>
            <a:off x="457200" y="3145536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0" name="Badge 3"/>
          <p:cNvSpPr txBox="1"/>
          <p:nvPr/>
        </p:nvSpPr>
        <p:spPr>
          <a:xfrm>
            <a:off x="685800" y="33284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371600" y="3145536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is semi-synthetic and should be confirmed on real post-shift data.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de link bar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9C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Link:  </a:t>
            </a:r>
            <a:r>
              <a:rPr lang="en-US" sz="1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github.com/rotoncsedu/phd_evaluation_task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7083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Picture3.jpg">
            <a:extLst>
              <a:ext uri="{FF2B5EF4-FFF2-40B4-BE49-F238E27FC236}">
                <a16:creationId xmlns:a16="http://schemas.microsoft.com/office/drawing/2014/main" id="{8A64A8F9-C228-A881-E8BB-31C94177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89" y="184639"/>
            <a:ext cx="7020005" cy="2538046"/>
          </a:xfrm>
          <a:prstGeom prst="rect">
            <a:avLst/>
          </a:prstGeom>
        </p:spPr>
      </p:pic>
      <p:pic>
        <p:nvPicPr>
          <p:cNvPr id="17" name="Picture 16" descr="Picture4.png">
            <a:extLst>
              <a:ext uri="{FF2B5EF4-FFF2-40B4-BE49-F238E27FC236}">
                <a16:creationId xmlns:a16="http://schemas.microsoft.com/office/drawing/2014/main" id="{52F30950-0819-3849-4798-00D23C2F2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89" y="2980593"/>
            <a:ext cx="7020005" cy="20878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ean Research">
  <a:themeElements>
    <a:clrScheme name="Clean Research">
      <a:dk1>
        <a:srgbClr val="1F2933"/>
      </a:dk1>
      <a:lt1>
        <a:srgbClr val="FFFFFF"/>
      </a:lt1>
      <a:dk2>
        <a:srgbClr val="1B2A41"/>
      </a:dk2>
      <a:lt2>
        <a:srgbClr val="EEF2F6"/>
      </a:lt2>
      <a:accent1>
        <a:srgbClr val="2A7F8E"/>
      </a:accent1>
      <a:accent2>
        <a:srgbClr val="F2A541"/>
      </a:accent2>
      <a:accent3>
        <a:srgbClr val="5B7083"/>
      </a:accent3>
      <a:accent4>
        <a:srgbClr val="C8553D"/>
      </a:accent4>
      <a:accent5>
        <a:srgbClr val="A9CCD3"/>
      </a:accent5>
      <a:accent6>
        <a:srgbClr val="3E5C76"/>
      </a:accent6>
      <a:hlink>
        <a:srgbClr val="2A7F8E"/>
      </a:hlink>
      <a:folHlink>
        <a:srgbClr val="5B7083"/>
      </a:folHlink>
    </a:clrScheme>
    <a:fontScheme name="Clean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755</Words>
  <Application>Microsoft Office PowerPoint</Application>
  <PresentationFormat>On-screen Show (16:9)</PresentationFormat>
  <Paragraphs>170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Clean Research</vt:lpstr>
      <vt:lpstr>Addressing Distributional Shifts in Order Fulfillment</vt:lpstr>
      <vt:lpstr>Overview</vt:lpstr>
      <vt:lpstr>Business Problem</vt:lpstr>
      <vt:lpstr>Case Study: Aker Solutions</vt:lpstr>
      <vt:lpstr>Two-Stage Decision Problem</vt:lpstr>
      <vt:lpstr>Proposed Method</vt:lpstr>
      <vt:lpstr>Model Architecture of WDGRL</vt:lpstr>
      <vt:lpstr>Experiments</vt:lpstr>
      <vt:lpstr>Result Analysis (1/2)</vt:lpstr>
      <vt:lpstr>Result Analysis (2/2)</vt:lpstr>
      <vt:lpstr>Robustness Experiments</vt:lpstr>
      <vt:lpstr>Limitations and Future Work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Distributional Shifts in Order Fulfillment</dc:title>
  <dc:subject>PptxGenJS Presentation</dc:subject>
  <dc:creator>Md. Al Imran</dc:creator>
  <cp:lastModifiedBy>Md.Al-Imran Roton</cp:lastModifiedBy>
  <cp:revision>3</cp:revision>
  <dcterms:created xsi:type="dcterms:W3CDTF">2026-10-19T08:31:34Z</dcterms:created>
  <dcterms:modified xsi:type="dcterms:W3CDTF">2026-10-19T08:46:34Z</dcterms:modified>
</cp:coreProperties>
</file>